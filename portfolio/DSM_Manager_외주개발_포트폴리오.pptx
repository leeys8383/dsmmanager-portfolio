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4b1f93ae084519" /><Relationship Type="http://schemas.openxmlformats.org/officeDocument/2006/relationships/extended-properties" Target="/docProps/app.xml" Id="R7fde1413267c4808" /><Relationship Type="http://schemas.openxmlformats.org/officeDocument/2006/relationships/officeDocument" Target="/ppt/presentation.xml" Id="R378f1648d45d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86f45f55d480d"/>
  </p:sldMasterIdLst>
  <p:notesMasterIdLst>
    <p:notesMasterId xmlns:r="http://schemas.openxmlformats.org/officeDocument/2006/relationships" r:id="Rbe3bf7cbcb40435c"/>
  </p:notesMasterIdLst>
  <p:sldIdLst>
    <p:sldId xmlns:r="http://schemas.openxmlformats.org/officeDocument/2006/relationships" id="256" r:id="R52cf35d974824720"/>
    <p:sldId xmlns:r="http://schemas.openxmlformats.org/officeDocument/2006/relationships" id="257" r:id="R5883ef63267b4cc8"/>
    <p:sldId xmlns:r="http://schemas.openxmlformats.org/officeDocument/2006/relationships" id="258" r:id="Rd3cb057be9b74dd1"/>
    <p:sldId xmlns:r="http://schemas.openxmlformats.org/officeDocument/2006/relationships" id="259" r:id="Ra41ff12369a3434e"/>
    <p:sldId xmlns:r="http://schemas.openxmlformats.org/officeDocument/2006/relationships" id="260" r:id="Ra46f44d7dc9e435f"/>
    <p:sldId xmlns:r="http://schemas.openxmlformats.org/officeDocument/2006/relationships" id="261" r:id="R04055dab6a9f48ea"/>
    <p:sldId xmlns:r="http://schemas.openxmlformats.org/officeDocument/2006/relationships" id="262" r:id="Rc6fa30137a90411b"/>
    <p:sldId xmlns:r="http://schemas.openxmlformats.org/officeDocument/2006/relationships" id="263" r:id="R35684edceeeb4960"/>
    <p:sldId xmlns:r="http://schemas.openxmlformats.org/officeDocument/2006/relationships" id="264" r:id="R6883fa99f04f4e4c"/>
    <p:sldId xmlns:r="http://schemas.openxmlformats.org/officeDocument/2006/relationships" id="265" r:id="Rcd96ea9c6fad42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7028328ef464b" /><Relationship Type="http://schemas.openxmlformats.org/officeDocument/2006/relationships/slideMaster" Target="/ppt/slideMasters/slideMaster1.xml" Id="Rbd486f45f55d480d" /><Relationship Type="http://schemas.openxmlformats.org/officeDocument/2006/relationships/notesMaster" Target="/ppt/notesMasters/notesMaster1.xml" Id="Rbe3bf7cbcb40435c" /><Relationship Type="http://schemas.openxmlformats.org/officeDocument/2006/relationships/presProps" Target="/ppt/presProps.xml" Id="R15c9c856688d40e0" /><Relationship Type="http://schemas.openxmlformats.org/officeDocument/2006/relationships/tableStyles" Target="/ppt/tableStyles.xml" Id="Ree61237618ff443d" /><Relationship Type="http://schemas.openxmlformats.org/officeDocument/2006/relationships/slide" Target="/ppt/slides/slide1.xml" Id="R52cf35d974824720" /><Relationship Type="http://schemas.openxmlformats.org/officeDocument/2006/relationships/slide" Target="/ppt/slides/slide2.xml" Id="R5883ef63267b4cc8" /><Relationship Type="http://schemas.openxmlformats.org/officeDocument/2006/relationships/slide" Target="/ppt/slides/slide3.xml" Id="Rd3cb057be9b74dd1" /><Relationship Type="http://schemas.openxmlformats.org/officeDocument/2006/relationships/slide" Target="/ppt/slides/slide4.xml" Id="Ra41ff12369a3434e" /><Relationship Type="http://schemas.openxmlformats.org/officeDocument/2006/relationships/slide" Target="/ppt/slides/slide5.xml" Id="Ra46f44d7dc9e435f" /><Relationship Type="http://schemas.openxmlformats.org/officeDocument/2006/relationships/slide" Target="/ppt/slides/slide6.xml" Id="R04055dab6a9f48ea" /><Relationship Type="http://schemas.openxmlformats.org/officeDocument/2006/relationships/slide" Target="/ppt/slides/slide7.xml" Id="Rc6fa30137a90411b" /><Relationship Type="http://schemas.openxmlformats.org/officeDocument/2006/relationships/slide" Target="/ppt/slides/slide8.xml" Id="R35684edceeeb4960" /><Relationship Type="http://schemas.openxmlformats.org/officeDocument/2006/relationships/slide" Target="/ppt/slides/slide9.xml" Id="R6883fa99f04f4e4c" /><Relationship Type="http://schemas.openxmlformats.org/officeDocument/2006/relationships/slide" Target="/ppt/slides/slide10.xml" Id="Rcd96ea9c6fad42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eb02e9532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e15d2a39b4a63" /><Relationship Type="http://schemas.openxmlformats.org/officeDocument/2006/relationships/notesMaster" Target="/ppt/notesMasters/notesMaster1.xml" Id="R872779f2c783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45697628b4edf" /><Relationship Type="http://schemas.openxmlformats.org/officeDocument/2006/relationships/notesMaster" Target="/ppt/notesMasters/notesMaster1.xml" Id="R3b7ae713610e40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8de6204434118" /><Relationship Type="http://schemas.openxmlformats.org/officeDocument/2006/relationships/notesMaster" Target="/ppt/notesMasters/notesMaster1.xml" Id="Red8b61b69db0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d9e7cb2b54f5e" /><Relationship Type="http://schemas.openxmlformats.org/officeDocument/2006/relationships/notesMaster" Target="/ppt/notesMasters/notesMaster1.xml" Id="Reb936928494649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a14f30c834eed" /><Relationship Type="http://schemas.openxmlformats.org/officeDocument/2006/relationships/notesMaster" Target="/ppt/notesMasters/notesMaster1.xml" Id="R47b3f304ff59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2978bf2eb14413" /><Relationship Type="http://schemas.openxmlformats.org/officeDocument/2006/relationships/notesMaster" Target="/ppt/notesMasters/notesMaster1.xml" Id="Reda23937ee9442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bf05cd4f54ad4" /><Relationship Type="http://schemas.openxmlformats.org/officeDocument/2006/relationships/notesMaster" Target="/ppt/notesMasters/notesMaster1.xml" Id="R49fa777980e84b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55303417349f0" /><Relationship Type="http://schemas.openxmlformats.org/officeDocument/2006/relationships/notesMaster" Target="/ppt/notesMasters/notesMaster1.xml" Id="R951e6e48fb394d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45ddfd4584e46" /><Relationship Type="http://schemas.openxmlformats.org/officeDocument/2006/relationships/notesMaster" Target="/ppt/notesMasters/notesMaster1.xml" Id="R2e7a71e10750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152312a4044df4" /><Relationship Type="http://schemas.openxmlformats.org/officeDocument/2006/relationships/notesMaster" Target="/ppt/notesMasters/notesMaster1.xml" Id="R19ad96241db7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462b7efb740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94eaf515241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1c24b89714e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52ee1bf7a40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4361fe37644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e7ebcded5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08BF02-AD42-4C14-B1D9-2BD6B295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90F697-9FC0-40A4-88C3-4C9E12EE82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F37A08-92AB-4A98-9343-FD884C626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0B1532-65BC-404C-B9E9-F96038A5A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38AB7D-8CDF-46EA-8BE3-25AB61440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A50119-92B0-43A5-94BF-DC80B3A2F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A2B666-435B-46C6-B549-7015331B3E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BD8726-D502-4C72-B0DB-C6FC0B7348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39AEF2-F695-427A-91B1-6690F5B6C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9604E6-1702-426B-A423-735D8AE10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35d951d484e9a" /><Relationship Type="http://schemas.openxmlformats.org/officeDocument/2006/relationships/slideLayout" Target="/ppt/slideLayouts/slideLayout1.xml" Id="R4d5a9e1ad74440f0" /><Relationship Type="http://schemas.openxmlformats.org/officeDocument/2006/relationships/slideLayout" Target="/ppt/slideLayouts/slideLayout2.xml" Id="R3f1bfbd0989c434e" /><Relationship Type="http://schemas.openxmlformats.org/officeDocument/2006/relationships/slideLayout" Target="/ppt/slideLayouts/slideLayout3.xml" Id="R8d5ae52f7f8c42ee" /><Relationship Type="http://schemas.openxmlformats.org/officeDocument/2006/relationships/slideLayout" Target="/ppt/slideLayouts/slideLayout4.xml" Id="R1dcab1bfc0ba45c1" /><Relationship Type="http://schemas.openxmlformats.org/officeDocument/2006/relationships/slideLayout" Target="/ppt/slideLayouts/slideLayout5.xml" Id="Rc783fa5979e74b42" /><Relationship Type="http://schemas.openxmlformats.org/officeDocument/2006/relationships/slideLayout" Target="/ppt/slideLayouts/slideLayout6.xml" Id="R68f2cf44eff1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a9e1ad74440f0"/>
    <p:sldLayoutId xmlns:r="http://schemas.openxmlformats.org/officeDocument/2006/relationships" id="2147483650" r:id="R3f1bfbd0989c434e"/>
    <p:sldLayoutId xmlns:r="http://schemas.openxmlformats.org/officeDocument/2006/relationships" id="2147483651" r:id="R8d5ae52f7f8c42ee"/>
    <p:sldLayoutId xmlns:r="http://schemas.openxmlformats.org/officeDocument/2006/relationships" id="2147483652" r:id="R1dcab1bfc0ba45c1"/>
    <p:sldLayoutId xmlns:r="http://schemas.openxmlformats.org/officeDocument/2006/relationships" id="2147483653" r:id="Rc783fa5979e74b42"/>
    <p:sldLayoutId xmlns:r="http://schemas.openxmlformats.org/officeDocument/2006/relationships" id="2147483654" r:id="R68f2cf44eff1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a090de6e443fc" /><Relationship Type="http://schemas.openxmlformats.org/officeDocument/2006/relationships/notesSlide" Target="/ppt/notesSlides/notesSlide1.xml" Id="R0726c205526d47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557f1be7a4309" /><Relationship Type="http://schemas.openxmlformats.org/officeDocument/2006/relationships/notesSlide" Target="/ppt/notesSlides/notesSlide2.xml" Id="Re38367b8592041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85fbfd02b4926" /><Relationship Type="http://schemas.openxmlformats.org/officeDocument/2006/relationships/image" Target="/ppt/media/image.png" Id="Rd54c5ed80f2f40ec" /><Relationship Type="http://schemas.openxmlformats.org/officeDocument/2006/relationships/image" Target="/ppt/media/image2.png" Id="R35449fc100ff4d0f" /><Relationship Type="http://schemas.openxmlformats.org/officeDocument/2006/relationships/notesSlide" Target="/ppt/notesSlides/notesSlide3.xml" Id="Rafc396ab5db8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7fc1fc629454f" /><Relationship Type="http://schemas.openxmlformats.org/officeDocument/2006/relationships/image" Target="/ppt/media/image3.png" Id="Rc6d5148e8019430d" /><Relationship Type="http://schemas.openxmlformats.org/officeDocument/2006/relationships/notesSlide" Target="/ppt/notesSlides/notesSlide4.xml" Id="R79b2b3cef24f43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9a0859f114a67" /><Relationship Type="http://schemas.openxmlformats.org/officeDocument/2006/relationships/image" Target="/ppt/media/image4.png" Id="Rc95b2334d54b4e32" /><Relationship Type="http://schemas.openxmlformats.org/officeDocument/2006/relationships/notesSlide" Target="/ppt/notesSlides/notesSlide5.xml" Id="R53cc18d92e394d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0b536d117460a" /><Relationship Type="http://schemas.openxmlformats.org/officeDocument/2006/relationships/image" Target="/ppt/media/image5.png" Id="Rd6e881b3040e49c0" /><Relationship Type="http://schemas.openxmlformats.org/officeDocument/2006/relationships/notesSlide" Target="/ppt/notesSlides/notesSlide6.xml" Id="R96509892a70948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c20175b434b68" /><Relationship Type="http://schemas.openxmlformats.org/officeDocument/2006/relationships/image" Target="/ppt/media/image6.png" Id="Rc9bc8917d63542ea" /><Relationship Type="http://schemas.openxmlformats.org/officeDocument/2006/relationships/notesSlide" Target="/ppt/notesSlides/notesSlide7.xml" Id="R90b2b449b02144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997cc7f434619" /><Relationship Type="http://schemas.openxmlformats.org/officeDocument/2006/relationships/image" Target="/ppt/media/image7.png" Id="R00dc3dc4d5a041a5" /><Relationship Type="http://schemas.openxmlformats.org/officeDocument/2006/relationships/notesSlide" Target="/ppt/notesSlides/notesSlide8.xml" Id="Ra4647ee88a5e4d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f931181f4470c" /><Relationship Type="http://schemas.openxmlformats.org/officeDocument/2006/relationships/notesSlide" Target="/ppt/notesSlides/notesSlide9.xml" Id="Rd2f148f1fe784b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a3fe842844079" /><Relationship Type="http://schemas.openxmlformats.org/officeDocument/2006/relationships/notesSlide" Target="/ppt/notesSlides/notesSlide10.xml" Id="R15b286840d3042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9350F-244E-40F2-9D9B-59DCD61A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1F226-2D50-40E5-877C-7AC9AF0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DSM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31F1D-4F82-4E12-88CB-FFE789A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7810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주문부터 미수금까지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이어지는 업무관리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90D8E-6B7B-457B-87FA-5BA35E3F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rPr>
              <a:t>중소 제조·유통 현장의 실제 업무 흐름을 기준으로 설계한</a:t>
            </a:r>
          </a:p>
          <a:p xmlns:a="http://schemas.openxmlformats.org/drawingml/2006/main">
            <a:pPr algn="l">
              <a:defRPr sz="150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rPr>
              <a:t>맞춤형 데스크톱 소프트웨어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221D3-885D-4BB0-A383-2009902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BBD39-3765-480C-8BFD-32338F4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외주개발 포트폴리오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B9E0C-357F-4B6A-BE50-C15DE254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FC0D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0D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0D8"/>
                </a:solidFill>
                <a:latin typeface="Noto Sans KR"/>
                <a:ea typeface="Noto Sans KR"/>
                <a:cs typeface="Noto Sans KR"/>
              </a:rPr>
              <a:t>주문 · 출고 · 거래원장 · 수금관리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D137D-72FB-4765-942B-5DEC1C18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C# · WPF · SQLite · MSIX · Microsoft Store 배포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6A72C-B998-4271-A4C1-EC38FE7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16954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A3DC-8021-41CD-9F56-72DCC459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144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EF314-E27F-4193-9A41-D17DD745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716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E91B-2D14-4733-963A-54FE520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48000"/>
            <a:ext cx="2705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B2DB2-5099-435A-8D54-BE933AC5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29000"/>
            <a:ext cx="270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현장 업무를 이해하고</a:t>
            </a:r>
          </a:p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기능만 구현합니다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92AE-D34E-4A03-8BC5-42D76D6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FF1C4-C034-4594-BC39-734B105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17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BDB73A-D9BC-49E1-98CD-2272C57B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E9B00-DAB3-4280-A585-544401CF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고객이 겪는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A82F8-B945-428B-B448-4E9D836C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엑셀과 메신저에 흩어진 정보는 업무 속도보다 확인 비용을 먼저 키웁니다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D7A85-EFDC-4C44-A2E7-0A34ED0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D5AFD-7619-4356-A854-660D9AF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3C8E4-17AE-48BA-B27D-3BF6F9B4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335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주문 내용이 여러 파일에 흩어짐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C9CA7-9C7C-4FEE-BA55-11CD1BD2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955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최신 수량과 납기 정보를 다시 확인해야 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4A6E1-2B77-4AD1-A9E1-1D38143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336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C2827-3BF3-482D-9BB8-4ABD8E78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3933C-923A-4188-B8DA-920F33B1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부분출고 후 잔여수량 확인이 어려움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FE5F5-7353-49CA-A8F9-1007F77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출고 이력과 현재 재고를 따로 맞춰야 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82C4E-FF7F-43BA-84BA-B8EB450F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9A43A-A8BF-4391-91BC-B7AE72DF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0B89D-B201-4C14-AA9F-8113554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957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매출과 입금이 연결되지 않음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1757E-FED4-4141-9148-6B850456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거래처별 미수금을 수작업으로 계산합니다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DAB28-36FB-4283-9F31-ECD2596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BDD0B-073D-44CC-B94D-5CC3B742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0F980-FD3C-40EE-9BA5-210D398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담당자만 업무 흐름을 알고 있음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F3CF8-4A28-42E6-8D1A-829F9AC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38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인수인계와 오류 대응에 시간이 걸립니다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601A3-3F6B-470C-AA0A-554A191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47675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F9460-5581-4070-9CDB-C244D16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하나의 업무 흐름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CBD52-10D4-4994-8C70-FC48A7D2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BB456-2D75-4C19-8E9A-27DFAB4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ED45D-23F0-43FC-BB1D-40212D1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05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4B457-C456-402B-88AF-B89074A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거래처와 품목을 선택해 등록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01AF4-C197-455F-B37B-5786FFA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5757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CECA1-0626-4D7F-BC46-EE764B9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1581F-EC4D-4C44-AF60-7B40C25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출고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C3C1D-7C19-4CAB-8A8E-A4430E4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57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잔여수량과 재고를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91AD5-6AAF-45EA-BEF2-8C2485A2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C5440-EFF0-4EE4-A150-AA4B0B7C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2A935-D23A-4070-9C1F-3AEE3239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909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D54EC-D238-4412-9B21-3B27210D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매출과 VAT를 자동 집계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5F631-F97F-4B77-8053-660B9BF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434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FB4350-2582-4BBD-9792-10A1B898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6A7176-6B3C-4A4B-B8EF-9065DB04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수금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CF6A2-D220-4B31-A977-466320CD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34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입금 반영 후 미수잔액 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904DD-131B-4868-842B-C36DDE7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4355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DSM Manager는 이 흐름을 한 화면 체계로 연결합니다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28D08-7DB3-4C4D-9F44-C46834C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661D33-CC32-4113-B0D5-B2B9E6F1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5634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CEF97-CBBA-4BAF-A10A-1840FBF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4CB1-958F-4249-8941-A5A018FF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거래처·품목 기초정보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C7E3E-E259-44C7-9AB8-F6A53ED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반복 입력을 줄이고 주문·출고·거래 문서의 기준 정보를 통일합니다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0EF4F-0C8D-418A-A622-D0A3FAC2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CDA9-7262-4508-8A21-35D4E40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거래처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315F-F603-4A62-8378-156603B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품목 관리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5414A-198A-4EDC-9451-3BC407F10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c5ed80f2f40e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2152650"/>
            <a:ext cx="5238750" cy="3248025"/>
          </a:xfrm>
          <a:prstGeom xmlns:a="http://schemas.openxmlformats.org/drawingml/2006/main" prst="roundRect">
            <a:avLst>
              <a:gd name="adj" fmla="val 3519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0C65B-AA4C-4D30-80BF-D66AD6F16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49fc100ff4d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43650" y="2152650"/>
            <a:ext cx="5238750" cy="3248025"/>
          </a:xfrm>
          <a:prstGeom xmlns:a="http://schemas.openxmlformats.org/drawingml/2006/main" prst="roundRect">
            <a:avLst>
              <a:gd name="adj" fmla="val 351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24E2F-8665-4336-8B1C-8BCE47DE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거래처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57E97-3567-485B-A9A2-6DF9B20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거래내역·미수금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58A32-D49A-4E2F-BB04-5B257F5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rPr>
              <a:t>품목 규격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293A-CBD8-4463-9762-78C4985C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rPr>
              <a:t>단가·재고 현황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20580-2463-4493-B0E7-BB890AE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198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기초정보가 주문과 거래내역의 공통 기준이 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9ADFC-5EF0-4E66-BB53-A594590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9B245-7A7E-4A0E-99FA-E1801F07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0413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4897F-7DF8-4727-B3C5-376200E8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1DC2F-A637-4AFC-AE8F-B25119B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다품목 주문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85E85-7EE2-4BCB-B71E-8E31701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한 거래처의 여러 품목을 주문 1건으로 묶어 등록합니다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7A26-63C1-4582-A3B1-253BBF65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DFDC-EB2D-418A-8B12-BAC7E033D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5148e801943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1924050"/>
            <a:ext cx="8420100" cy="4705350"/>
          </a:xfrm>
          <a:prstGeom xmlns:a="http://schemas.openxmlformats.org/drawingml/2006/main" prst="roundRect">
            <a:avLst>
              <a:gd name="adj" fmla="val 242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9507C-F02C-4D03-A0A3-3B3B4975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화면에서 바로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94760-89CD-490A-B8A5-893E0D1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DEC83-BC89-4E47-8D40-89276C8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거래처·납기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4769F-3179-4BA6-A0F7-72A46B4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6702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주문 기본정보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9D3D6-2DE8-4294-BF7C-0A96940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EA96C-D783-4BAF-A974-BE9DA51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여러 품목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3D420-6E38-46E6-BF50-ED4F5D91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4807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필요한 품목을 계속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6B153-9763-4DD9-948A-08063C9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529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D401F-1FD0-4FAB-8363-7AE71CC3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338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금액·VAT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80347-004D-4A82-98D6-AF1F4D8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2912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품목별 금액과 합계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467C8-EF12-44B4-98E9-E1C8D3A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339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EABBB-10A4-44F2-B2B5-3008D77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149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입력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E6253-0BC9-443C-A3DD-B0F7A6D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1017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주문 입력 누락을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54D0C-B155-4476-83DE-D145088C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72150"/>
            <a:ext cx="2190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1506B-9410-44AD-B6A4-49BFE168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주문 1건에 여러 품목을</a:t>
            </a:r>
          </a:p>
          <a:p xmlns:a="http://schemas.openxmlformats.org/drawingml/2006/main">
            <a:pPr algn="ctr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함께 등록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E5720-1500-4C8E-8FC9-3898514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0485B-4EE4-4956-9239-4CFB179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8174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13564-0EB3-4DFF-B247-4EB9BD1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AD34A-5FC8-46A2-9087-92CB25E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주문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8C3B4-4701-4D01-AB45-33050EE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기간과 거래처 기준으로 주문 현황을 찾고 출고 대상을 바로 선택합니다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3186C-288D-4BDA-BA90-C8153DC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AD120-9063-45CF-9C26-88FF060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85F4C-EBB4-47EF-A88C-DE4681084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b2334d54b4e32"/>
          <a:srcRect xmlns:a="http://schemas.openxmlformats.org/drawingml/2006/main" l="0" t="2600" r="0" b="29000"/>
          <a:stretch xmlns:a="http://schemas.openxmlformats.org/drawingml/2006/main"/>
        </p:blipFill>
        <p:spPr>
          <a:xfrm xmlns:a="http://schemas.openxmlformats.org/drawingml/2006/main">
            <a:off x="723900" y="1981200"/>
            <a:ext cx="107442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9BA52-0D90-41AD-9EBC-58C90B05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주문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F255-E9A0-4461-BF9F-5087C1C5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6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품목·수량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AD522-5804-40D2-AA2E-B19CD4AD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6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재고·납기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35F5B-41E2-4D04-80DE-BAD5815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62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A179"/>
                </a:solidFill>
                <a:latin typeface="Noto Sans KR"/>
                <a:ea typeface="Noto Sans KR"/>
                <a:cs typeface="Noto Sans KR"/>
              </a:rPr>
              <a:t>여러 주문 선택 출고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5656F-D5D2-4973-985B-00F431DE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57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데모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8F14B-E162-40DE-81AF-0680216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E14AF-CA6C-4E44-8309-8961A9E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5293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0A62-1529-42D3-832B-98C684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E1D8C-2118-40F3-8C94-B5A2F7D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부분출고와 재고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2065A-D3C7-44B5-BB98-CD9901C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주문수량, 누적출고, 잔여수량과 현재재고를 함께 보면서 출고합니다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EC137-0BDB-4E2B-B3C4-97995792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5324D-16D9-4331-A9D3-39A37D0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9EB3A-4B3B-455A-86CE-299B475833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881b3040e49c0"/>
          <a:srcRect xmlns:a="http://schemas.openxmlformats.org/drawingml/2006/main" l="0" t="2450" r="0" b="34000"/>
          <a:stretch xmlns:a="http://schemas.openxmlformats.org/drawingml/2006/main"/>
        </p:blipFill>
        <p:spPr>
          <a:xfrm xmlns:a="http://schemas.openxmlformats.org/drawingml/2006/main">
            <a:off x="723900" y="2114550"/>
            <a:ext cx="1074420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661E-F77C-4424-9365-29CC9A3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629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A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63C1F-FDD2-4AC4-BF28-BD5D36E0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38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 품목 3종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DB2AA-33FE-4369-AB86-3E368982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38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수량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88EFF-9DA8-4240-9B27-F77BF330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38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공급가액·VAT 즉시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E0CAC-3665-45D5-9BA6-BF1ABAE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전체출고 또는 부분출고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BBAD5-0D66-4DF0-A8C1-814701E1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70DDE-6CF4-4113-99CC-47366D98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945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08BD2-FF5B-4063-AEA4-151BD277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D070-F03C-491C-89D0-612C2E06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거래처별 거래내역·미수금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8994A-9615-42C0-9850-984BA21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거래처별 거래내역과 미수금 현황을 한 화면에서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8AA27-983C-4D22-87A0-361A0C7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634F2-4697-432B-815C-A1B80AC12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c8917d63542e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1924050"/>
            <a:ext cx="84201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8B95-34E6-4437-BAE8-ACDC1D2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한 화면에서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4F645-90A8-4094-AAF3-F20C5296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66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460FF-4B62-42F5-915D-063E9F75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거래처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4C3BA-1429-402A-BADE-2D0F5676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2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담당자와 연락처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A7EF-B851-4EDF-863F-2D804D40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29000"/>
            <a:ext cx="66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ACAF4-E7AD-4F12-BE30-C9DCC0C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거래내역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EF0B1-1D10-4DF9-B2FC-255E167A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95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매출 거래와 금액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47B92-F7A1-4014-901E-DBFCB191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66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9A385-4588-43C2-9185-C2E9784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529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입금내역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7AC24-DB36-4FC9-AB0F-FCCDDED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받은 금액의 처리 내역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EB108-1244-4F23-9BF3-C68AD365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14900"/>
            <a:ext cx="66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DCE52-2185-4103-BEB5-A2F9929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현재 미수금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7D428-7727-47BE-AFF9-DD17DC9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81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거래처별 남은 금액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FF21D-FA3F-4DAA-8101-2D321D2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실제 프로그램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5E968-1445-4824-B4BB-C77020AF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ECCB6-6C31-4F12-9408-95F72A9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1535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111AB-F5D3-4456-B9B0-DAE2831B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71D4F-A4A2-4221-98A2-8DE7869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거래원장·수금관리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665F8-4339-45A9-A896-EBA637B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매출과 수금을 연결해 거래처별로 현재 받을 금액을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6D3C0-402C-4E7B-848D-275E1E9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F9325-8950-41F8-A1AF-504BF4C3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D108E-EB33-444D-83A2-11AAFE58C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c3dc4d5a041a5"/>
          <a:srcRect xmlns:a="http://schemas.openxmlformats.org/drawingml/2006/main" l="0" t="2700" r="0" b="38000"/>
          <a:stretch xmlns:a="http://schemas.openxmlformats.org/drawingml/2006/main"/>
        </p:blipFill>
        <p:spPr>
          <a:xfrm xmlns:a="http://schemas.openxmlformats.org/drawingml/2006/main">
            <a:off x="723900" y="1981200"/>
            <a:ext cx="107442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E6AD6-901B-480F-BDD1-D859BEA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매출금액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EC6A7-7C1F-4561-B433-7F73B4EF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출고 거래의 공급가액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E5D66-A27D-4F00-A10B-C5910DEC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53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VAT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A4D03-5D55-49EC-B7FF-4853496C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00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거래별 세액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7E23B-71DA-4B63-A6CE-3343180C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53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결제금액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9AA00-9299-4542-AB37-329F745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00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거래에 배분된 입금액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C8268-1D51-415F-B31D-91CA0B9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53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92D20"/>
                </a:solidFill>
                <a:latin typeface="Noto Sans KR"/>
                <a:ea typeface="Noto Sans KR"/>
                <a:cs typeface="Noto Sans KR"/>
              </a:rPr>
              <a:t>차인잔고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4729F-74A5-4A21-9717-B5D70D17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00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현재 받을 금액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12754-77A3-4D57-9A15-1F894EF2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53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결제상태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87900-12F9-4C38-BCE4-B1E42D5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미수·부분수금·완료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D3F33-B54E-4B1B-B01B-1818A16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57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데모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0F627-CC85-4BEE-9923-F5EA7E1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2B499-591A-4E46-9D9C-C3BFDA9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852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DA70DE-5E40-42FC-A4F8-7A725CD3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89CA2-599F-4E3F-9C43-B8441E3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현장 사용성과 데이터 안전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B97BA-E907-45D3-A371-5B8A7ED2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DSM Manager에서 구현하고 검증한 범위입니다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EC8A6-7ADF-4081-8A21-27347D7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9FEF0-50DD-41F7-8852-CD6D1574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Windows 현장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5BF7C-152A-4AD7-AE51-B589F526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3D62E-D542-456D-A340-E69D51CA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7B861-4D46-445C-881F-6E4187C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고DPI 대응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14209-66EA-485B-B8C1-38B727E9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860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Windows 100~175% DPI와 다양한 화면 크기 대응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CC48C-2BD9-4BC2-9384-E3008D1D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DB8C6-5EBE-48E7-BE04-07C34037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E407A-2CDC-4438-B949-CE6C9715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화면 개선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2CB79-D4E0-4BD3-B04A-F1841540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290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기존 WPF 화면의 배치와 가독성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116A9-BE46-4F20-BF82-B4047FE6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344F0-F5D0-4953-8026-63787C0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1FB51-42EB-42C8-B145-0655E08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배포 경험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70A6D-5B21-48C8-83BC-BACEA0D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719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MSIX 패키징과 Microsoft Store 배포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55DD4-2849-4A0B-8E26-B9346668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190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2E966-6E3C-4209-91B9-46E26BE0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연결 데이터 보호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C8B46-EE6A-4424-AA7B-B3626DB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27C97-7ACD-44DC-AB1F-B9904E6D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F81EC-25F1-4E1F-B547-74B6FB5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업무 일관성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37C36-09CD-41D8-8A73-E2561C65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주문·출고·매입·재고 데이터를 함께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75343-385D-472B-BBD4-20C97B15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4B892-4EBA-4994-949A-91CFE8A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CC38D-7BB8-467F-AF51-FB741BFB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718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취소 복구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4DF9B-FF46-41F5-AA7D-5EE857F2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출고·매입 취소 시 재고와 관련 데이터 복구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30696-CDF6-4F6A-8B1F-D6B8EC5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31C10-F399-4D9C-99F6-FB25668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40735-CC2C-45F3-8FD2-F24C68A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00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오류 방지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DA148-360B-4F14-9F20-4ABF9D86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음수 재고와 중복 출고 방지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9AAAE-49A2-40DF-80DB-D55A8267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87F9E-00BE-4144-85B3-59926D4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481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082213-7F7A-41D7-B7C6-A19FF07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A"/>
                </a:solidFill>
                <a:latin typeface="Noto Sans KR"/>
                <a:ea typeface="Noto Sans KR"/>
                <a:cs typeface="Noto Sans KR"/>
              </a:rPr>
              <a:t>이력 보존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FF6A0-B3B7-4135-AB6C-CC51777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29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취소 사유와 변경 이력 보존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58FAA-3EAE-42A9-B8BA-65ECE864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E67E8"/>
                </a:solidFill>
                <a:latin typeface="Noto Sans KR"/>
                <a:ea typeface="Noto Sans KR"/>
                <a:cs typeface="Noto Sans KR"/>
              </a:rPr>
              <a:t>C# · WPF · SQLite · MSIX · Microsoft Store 배포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5E3384-ABCF-4AD3-AE69-CA53569D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57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645878-B842-4596-B721-001A94F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22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고객 환경에 따라 추가 설계 가능한 영역: 다중 PC · 클라우드 · 사용자 권한 · 바코드 · 자동 백업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E8C0C2-D93F-4F1B-8F03-D948DAA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8A2B3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8164E3-86FD-45D0-903A-77585CFC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995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4420F-C610-4969-88B5-3E6B8A7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EF1E-B109-4537-9ACB-49D7600B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 가능한 외주개발 분야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52BB4-BEAB-4CCA-BAC5-9F6F2270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B9C7DC"/>
                </a:solidFill>
                <a:latin typeface="Noto Sans KR"/>
                <a:ea typeface="Noto Sans KR"/>
                <a:cs typeface="Noto Sans KR"/>
              </a:rPr>
              <a:t>DSM Manager에서 실제로 구현한 경험을 기준으로 제안합니다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516D8-BD78-49BD-BF72-09BB89C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0F319-51B4-4A91-A27C-D2739D80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240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제조·유통 주문·납품·재고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34A47-1C2B-4FDA-AC29-0281DD8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FFDC7-BB1C-405D-9F7A-EBE661A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49521-706B-43C5-A697-583A618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거래처·매출·수금·미수금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3AFDA-454B-4C8A-A4A4-DDBAF68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88092-5133-4E44-B193-D7B8BF6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BE7ED-4D90-4663-859B-A246DDF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매입·입고·재고 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A6A64-8536-48A7-ACCC-2E3B590D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7DFB6-4C01-4C4D-B554-353AEBE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5F534-256D-4CC5-9016-0163FAC9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240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Excel 장부의 Windows 프로그램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7A935-E877-4F94-BAFC-BA2EE11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EF616-870C-4CB5-AD6C-3AB2FF2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68778-A946-4C3F-8FA9-C2D0A2B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 WPF 프로그램의 고DPI·화면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C5BED-DB19-4508-9A2F-EF55CCB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9EFD3-9E7D-4F23-84B8-2D4416C9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3E34D-7BF2-4895-B4DD-A8D60E56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766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MSIX 및 Microsoft Store 배포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916F9-E476-4D9E-8BF2-735D05D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83D6D-C583-409E-AD26-3869390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744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D4F"/>
          </a:solidFill>
          <a:ln xmlns:a="http://schemas.openxmlformats.org/drawingml/2006/main" w="9525">
            <a:solidFill>
              <a:srgbClr val="3850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13AEB-4A24-4F2F-87BF-C2A1BAFC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53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91B4FF"/>
                </a:solidFill>
                <a:latin typeface="Noto Sans KR"/>
                <a:ea typeface="Noto Sans KR"/>
                <a:cs typeface="Noto Sans KR"/>
              </a:rPr>
              <a:t>추가 개발 가능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FDCDB-B47F-4D4A-9248-A4A70A95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53025"/>
            <a:ext cx="794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D4DCEC"/>
                </a:solidFill>
                <a:latin typeface="Noto Sans KR"/>
                <a:ea typeface="Noto Sans KR"/>
                <a:cs typeface="Noto Sans KR"/>
              </a:rPr>
              <a:t>다중 PC · 클라우드 · 사용자 권한 · 바코드 · 자동 백업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11793-DDE5-42DA-95EF-76466F7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업무와 데이터 구조를 확인한 뒤 필요한 범위를 정합니다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E50C5-0C05-4703-A2BD-1137ECD7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9C7DC"/>
                </a:solidFill>
                <a:latin typeface="Noto Sans KR"/>
                <a:ea typeface="Noto Sans KR"/>
                <a:cs typeface="Noto Sans KR"/>
              </a:rPr>
              <a:t>DSM Manager  |  외주개발 포트폴리오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0133B-911A-4108-A8C0-32D1AA9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48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B9C7DC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47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2026-10-14T08:20:10.6160000Z</dcterms:created>
  <dcterms:modified xsi:type="dcterms:W3CDTF">2026-10-14T08:20:10.6160000Z</dcterms:modified>
</coreProperties>
</file>